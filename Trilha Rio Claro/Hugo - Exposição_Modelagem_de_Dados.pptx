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818"/>
    <a:srgbClr val="162F36"/>
    <a:srgbClr val="0C1D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FE834-DD51-467A-B836-ADF031C0BAB7}" v="17" dt="2025-12-05T21:42:49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0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Venturini" userId="aa252fbd-19c8-468e-a2e0-fb880a21b36c" providerId="ADAL" clId="{CB7265FE-986F-4E9B-B04F-7CB28BDDC3BD}"/>
    <pc:docChg chg="undo custSel addSld delSld modSld">
      <pc:chgData name="Hugo Venturini" userId="aa252fbd-19c8-468e-a2e0-fb880a21b36c" providerId="ADAL" clId="{CB7265FE-986F-4E9B-B04F-7CB28BDDC3BD}" dt="2025-12-05T21:42:49.792" v="74"/>
      <pc:docMkLst>
        <pc:docMk/>
      </pc:docMkLst>
      <pc:sldChg chg="modSp mod setBg">
        <pc:chgData name="Hugo Venturini" userId="aa252fbd-19c8-468e-a2e0-fb880a21b36c" providerId="ADAL" clId="{CB7265FE-986F-4E9B-B04F-7CB28BDDC3BD}" dt="2025-12-05T21:42:49.792" v="74"/>
        <pc:sldMkLst>
          <pc:docMk/>
          <pc:sldMk cId="2946414102" sldId="256"/>
        </pc:sldMkLst>
        <pc:picChg chg="mod modCrop">
          <ac:chgData name="Hugo Venturini" userId="aa252fbd-19c8-468e-a2e0-fb880a21b36c" providerId="ADAL" clId="{CB7265FE-986F-4E9B-B04F-7CB28BDDC3BD}" dt="2025-12-05T21:23:35.632" v="3" actId="732"/>
          <ac:picMkLst>
            <pc:docMk/>
            <pc:sldMk cId="2946414102" sldId="256"/>
            <ac:picMk id="4" creationId="{0FA96F4B-AD74-3994-E819-15E997908443}"/>
          </ac:picMkLst>
        </pc:picChg>
        <pc:picChg chg="mod">
          <ac:chgData name="Hugo Venturini" userId="aa252fbd-19c8-468e-a2e0-fb880a21b36c" providerId="ADAL" clId="{CB7265FE-986F-4E9B-B04F-7CB28BDDC3BD}" dt="2025-12-05T21:42:49.792" v="74"/>
          <ac:picMkLst>
            <pc:docMk/>
            <pc:sldMk cId="2946414102" sldId="256"/>
            <ac:picMk id="5" creationId="{899B8AE7-6A57-AD53-5907-0832B4CBB9C6}"/>
          </ac:picMkLst>
        </pc:picChg>
      </pc:sldChg>
      <pc:sldChg chg="del">
        <pc:chgData name="Hugo Venturini" userId="aa252fbd-19c8-468e-a2e0-fb880a21b36c" providerId="ADAL" clId="{CB7265FE-986F-4E9B-B04F-7CB28BDDC3BD}" dt="2025-12-05T12:56:26.486" v="0" actId="47"/>
        <pc:sldMkLst>
          <pc:docMk/>
          <pc:sldMk cId="1749801503" sldId="257"/>
        </pc:sldMkLst>
      </pc:sldChg>
      <pc:sldChg chg="modSp mod">
        <pc:chgData name="Hugo Venturini" userId="aa252fbd-19c8-468e-a2e0-fb880a21b36c" providerId="ADAL" clId="{CB7265FE-986F-4E9B-B04F-7CB28BDDC3BD}" dt="2025-12-05T21:40:34.160" v="65" actId="14100"/>
        <pc:sldMkLst>
          <pc:docMk/>
          <pc:sldMk cId="3598983877" sldId="258"/>
        </pc:sldMkLst>
        <pc:spChg chg="mod">
          <ac:chgData name="Hugo Venturini" userId="aa252fbd-19c8-468e-a2e0-fb880a21b36c" providerId="ADAL" clId="{CB7265FE-986F-4E9B-B04F-7CB28BDDC3BD}" dt="2025-12-05T21:34:04.881" v="17" actId="20577"/>
          <ac:spMkLst>
            <pc:docMk/>
            <pc:sldMk cId="3598983877" sldId="258"/>
            <ac:spMk id="11" creationId="{B5C1CC70-F823-2E03-3602-A5C219833830}"/>
          </ac:spMkLst>
        </pc:spChg>
        <pc:picChg chg="mod">
          <ac:chgData name="Hugo Venturini" userId="aa252fbd-19c8-468e-a2e0-fb880a21b36c" providerId="ADAL" clId="{CB7265FE-986F-4E9B-B04F-7CB28BDDC3BD}" dt="2025-12-05T21:40:34.160" v="65" actId="14100"/>
          <ac:picMkLst>
            <pc:docMk/>
            <pc:sldMk cId="3598983877" sldId="258"/>
            <ac:picMk id="2" creationId="{D89001A5-EA57-98F2-6F41-F14DD1A80698}"/>
          </ac:picMkLst>
        </pc:picChg>
      </pc:sldChg>
      <pc:sldChg chg="modSp mod">
        <pc:chgData name="Hugo Venturini" userId="aa252fbd-19c8-468e-a2e0-fb880a21b36c" providerId="ADAL" clId="{CB7265FE-986F-4E9B-B04F-7CB28BDDC3BD}" dt="2025-12-05T21:40:47.889" v="67" actId="14100"/>
        <pc:sldMkLst>
          <pc:docMk/>
          <pc:sldMk cId="1839285276" sldId="259"/>
        </pc:sldMkLst>
        <pc:spChg chg="mod">
          <ac:chgData name="Hugo Venturini" userId="aa252fbd-19c8-468e-a2e0-fb880a21b36c" providerId="ADAL" clId="{CB7265FE-986F-4E9B-B04F-7CB28BDDC3BD}" dt="2025-12-05T21:34:39.662" v="32" actId="20577"/>
          <ac:spMkLst>
            <pc:docMk/>
            <pc:sldMk cId="1839285276" sldId="259"/>
            <ac:spMk id="11" creationId="{8E977107-E416-F980-085A-98F6F50FCA2D}"/>
          </ac:spMkLst>
        </pc:spChg>
        <pc:picChg chg="mod">
          <ac:chgData name="Hugo Venturini" userId="aa252fbd-19c8-468e-a2e0-fb880a21b36c" providerId="ADAL" clId="{CB7265FE-986F-4E9B-B04F-7CB28BDDC3BD}" dt="2025-12-05T21:40:47.889" v="67" actId="14100"/>
          <ac:picMkLst>
            <pc:docMk/>
            <pc:sldMk cId="1839285276" sldId="259"/>
            <ac:picMk id="2" creationId="{25A61F73-BBFE-46A3-9477-76A0BDE15E01}"/>
          </ac:picMkLst>
        </pc:picChg>
      </pc:sldChg>
      <pc:sldChg chg="modSp mod">
        <pc:chgData name="Hugo Venturini" userId="aa252fbd-19c8-468e-a2e0-fb880a21b36c" providerId="ADAL" clId="{CB7265FE-986F-4E9B-B04F-7CB28BDDC3BD}" dt="2025-12-05T21:41:01.725" v="70" actId="14100"/>
        <pc:sldMkLst>
          <pc:docMk/>
          <pc:sldMk cId="1137590730" sldId="260"/>
        </pc:sldMkLst>
        <pc:spChg chg="mod">
          <ac:chgData name="Hugo Venturini" userId="aa252fbd-19c8-468e-a2e0-fb880a21b36c" providerId="ADAL" clId="{CB7265FE-986F-4E9B-B04F-7CB28BDDC3BD}" dt="2025-12-05T21:34:58.217" v="46" actId="20577"/>
          <ac:spMkLst>
            <pc:docMk/>
            <pc:sldMk cId="1137590730" sldId="260"/>
            <ac:spMk id="11" creationId="{C6E11919-06DB-A8C5-3CC6-826F126CAA18}"/>
          </ac:spMkLst>
        </pc:spChg>
        <pc:picChg chg="mod">
          <ac:chgData name="Hugo Venturini" userId="aa252fbd-19c8-468e-a2e0-fb880a21b36c" providerId="ADAL" clId="{CB7265FE-986F-4E9B-B04F-7CB28BDDC3BD}" dt="2025-12-05T21:41:01.725" v="70" actId="14100"/>
          <ac:picMkLst>
            <pc:docMk/>
            <pc:sldMk cId="1137590730" sldId="260"/>
            <ac:picMk id="2" creationId="{67C542C1-BD97-F4D2-64CB-67EF6BBC79BC}"/>
          </ac:picMkLst>
        </pc:picChg>
      </pc:sldChg>
      <pc:sldChg chg="addSp delSp modSp new mod setBg">
        <pc:chgData name="Hugo Venturini" userId="aa252fbd-19c8-468e-a2e0-fb880a21b36c" providerId="ADAL" clId="{CB7265FE-986F-4E9B-B04F-7CB28BDDC3BD}" dt="2025-12-05T21:39:14.417" v="50"/>
        <pc:sldMkLst>
          <pc:docMk/>
          <pc:sldMk cId="3358906835" sldId="261"/>
        </pc:sldMkLst>
        <pc:spChg chg="add del">
          <ac:chgData name="Hugo Venturini" userId="aa252fbd-19c8-468e-a2e0-fb880a21b36c" providerId="ADAL" clId="{CB7265FE-986F-4E9B-B04F-7CB28BDDC3BD}" dt="2025-12-05T21:33:03.382" v="9" actId="26606"/>
          <ac:spMkLst>
            <pc:docMk/>
            <pc:sldMk cId="3358906835" sldId="261"/>
            <ac:spMk id="8" creationId="{42A4FC2C-047E-45A5-965D-8E1E3BF09BC6}"/>
          </ac:spMkLst>
        </pc:spChg>
        <pc:picChg chg="add mod">
          <ac:chgData name="Hugo Venturini" userId="aa252fbd-19c8-468e-a2e0-fb880a21b36c" providerId="ADAL" clId="{CB7265FE-986F-4E9B-B04F-7CB28BDDC3BD}" dt="2025-12-05T21:33:03.382" v="9" actId="26606"/>
          <ac:picMkLst>
            <pc:docMk/>
            <pc:sldMk cId="3358906835" sldId="261"/>
            <ac:picMk id="3" creationId="{C2034C40-9DD1-60B7-09F7-837758BD074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D2042-C1F1-64B4-43B3-7797C19A6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68E881-CC96-5F82-9D6C-C20A4302C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81CF15-B798-5E27-FBDF-18404A4DD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DD4183-71A4-1C01-B162-EB455367D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928B1B-9B86-FFCD-953C-C872A97D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5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B5D7E-DDAA-E06E-CB1D-264259852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747DA6-CA73-9C06-6356-616076DFC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3457D3-9D3C-5E86-DEC9-F0158EA8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AAE281-DFB8-C998-A54D-7393A378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91F46C-8E75-F0A0-F3F1-BADC8E8C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063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A1C00-8AE6-3793-AE03-C341B364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FA0621-4931-7934-67A0-D6B57B955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813A8-37FB-7253-9645-24AE9930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33AB77-9ACE-0017-3B37-601AFF26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F1D922-8EC6-D63E-10B5-A65F8E67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429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695C1-AA8B-068D-15FE-694AEE59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24FDD2-0A42-D6A5-DDEC-3936B018B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A54936-A322-19FB-776A-CC32153F7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112363-4B3D-AC19-B133-0C872FBE7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361816-95C5-3D25-5EFF-8B3B9B238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369815-2639-F138-B4BB-29FCF5E7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43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C3DF0-654E-B572-1890-172EF653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F8648E-5085-8095-C298-B6240B7B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17A9DE-BA67-8351-8916-C35C75448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65C539D-4366-6FBD-E219-61AC5E946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791EF4-8FAD-0572-263F-553C76A97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5CF34B4-AC19-BFE9-3664-7A0A4AF6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7469E49-7613-1063-F812-6648F158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4089230-3F61-2235-BA9F-84C52E49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56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73778-080D-CAE6-E7D8-07ED9592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9A72FFF-9E57-82B6-FB55-A4721493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C3E7DC-417A-563F-B2B9-E477A4059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0C9634-D417-CF08-776B-777DEBDA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8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6BD0E25-1309-8026-3D58-25F9213A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2ADCC5-B0E1-4E1B-E12D-3E5B8140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733194-4BCB-E068-D3A0-8B42B48A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952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5D8DB-4E25-9EB8-9F6C-0869930E6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244060-BBDE-1A82-DF95-77A1E4510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6CF498-3057-21A9-4AB4-2D6AFCED0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6FFAA2-EB29-C774-F262-050BFED7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6C0712-E7C1-3F57-E879-B592A237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A736-D314-FC5F-FC12-D4BE6E74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89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D97EC-A7FB-E200-B215-57C78AEEC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BC4E72-6AAF-9576-2F2C-86DDB80AA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017E28-640A-7E51-CAA9-C1AEC97C5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30E3E1-81A5-7FB0-9640-B02BF1FD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BA4CBD-9669-285B-BF3C-B281059F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BAD3C0-CB72-0D59-E062-864A1807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11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2103B-1E70-BDB7-12D0-F96251B7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BECEB3-8B34-9FEE-950C-3EE7F54B9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AA299A-C374-CB86-CAC7-3F2AB3FA9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DE83AA-9110-5B3F-B492-FE94C146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1BAD8B-EAB8-D2FA-5083-C250F95C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49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52AC7D-78DD-38A3-6EBC-54DEC8D16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3586F2-CF07-28D4-3160-A817393FA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6CDC11-760B-5838-8E3C-45716157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052E21-E636-9423-93AC-63D2CAB6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8936FA-0168-75ED-CAB6-84FB1DED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794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5F0F78C-D531-0729-8A2C-8E137EFD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C5F6C0-558A-5EDE-2519-EDD9B3EF4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A6E53A-0455-F6D4-B2B6-C6271DB5F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F36AE-9022-4B28-8195-F22F551CFE59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B8969A-4F9A-9C7E-ADF4-01D94032D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6527FB-581D-151E-3D99-557172A5C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93B66-6324-4F0A-A4E1-372219CA43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85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www.seas.upenn.edu/~zives/03f/cis550/codd.pd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hyperlink" Target="https://www.amazon.com.br/Building-Data-Warehouse-W-Inmon/dp/0764599445/ref=sr_1_5?crid=3KU0X0GE5QW5G&amp;dib=eyJ2IjoiMSJ9.aZU26xwcDyWrXdxFzdyqdLde3aCSda0atQaciq-wwc6ih5fA38R1VWnFbciOb1_rCnUQtQqiRPh__ZZYcR17WG3P8HNLGw5cjR2l0WSjgEX7B_S2pfmvXdiyr2lrnM3rgKqhGweVeg0tGv7bmAEEaLRGyGvcably09OLidJzXTKuxleMLoDPcU6J3eSa50uZXcHlo78j-sDfwRKSu4n3osyXC4-DO5jAI66_FbpHTXH-HlOVw4gaVOx3BubtVljMpQv0qo7jYGsknSHcoQ5GuphFzhPSpuNzne89p8Iss4U.YrcaKWR60AnrmNOue4J7Z0kavQ3Vq4ehJBhK__v3V9g&amp;dib_tag=se&amp;keywords=bill+inmon&amp;qid=1764504570&amp;sprefix=bill+inm%2Caps%2C208&amp;sr=8-5&amp;ufe=app_do%3Aamzn1.fos.fcd6d665-32ba-4479-9f21-b774e276a678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mazon.com.br/Effective-Data-Design-William-Inmon/dp/0132414899/ref=sr_1_1?__mk_pt_BR=%C3%85M%C3%85%C5%BD%C3%95%C3%91&amp;crid=11MU5G2I757SK&amp;dib=eyJ2IjoiMSJ9.m70G6mDjDDNfAt3w0_hiamLIO_KlUZ5Q6PuW1m-KOis7CJiY5fj88uGtfyBuNxI2fsblguxvP1PlSVBk9iisDUlTQH1VeH9rkYdWdJPV8r3H2L_4P8MunAai4KT_5nXVxjyctvWOsnrc3w8ze9dunPUKNaurZDVQaDxzlTP1kvTVEW75gi23rESsBZOhh-3hse7caNNuwEYRoU_1gLGpxB2JZZALLxG2Pc2A6ZvtgV7GB4LcQKHVVIH_Ay_Vllw04jsesF0fzIip5815zKWo16SYyqbCYm-nCVh93cCD2BI.d4afNok4zXTn0fosP524YLfU3KgXpu7yQTVHxY8GVQM&amp;dib_tag=se&amp;keywords=effective+data+base+design&amp;qid=1764970157&amp;sprefix=effective+data+base+design%2Caps%2C204&amp;sr=8-1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hyperlink" Target="https://www.amazon.com.br/Data-Warehouse-Lifecycle-Toolkit/dp/0470149779/ref=sr_1_5?adgrpid=1136895682082976&amp;dib=eyJ2IjoiMSJ9.tt7BYpkMCm7lp4Z0Uc3jR-ay1ylobQ-4iJ_JisYpupYIVG41X39A_mbzQPcSCiJ2D89Vk4EpoFAH07focU0_wlE0A9wRO-7oH0hryI_UHZ-nLFnA7dInzMu1ZZUxUOMfhxJgEYdyfwMz1nNGC0W_CD1CgyYbEak3R-AiZMe5PjL7tWv8vM8urgPxZnZOZjgszkPbaVOgXINT6D4Rdn8VEUCk-_8FxAb4LLcbgMv-YFubThLHkcYXFGiY3wVG7X-m43rv-39kHmX9C8YKI4w5T9QHWYGR680kk3pxauMc58U.jZu2bLHvh46NyqmlDqO0y8A2irfEg5Tgt3Yi6nB5lEg&amp;dib_tag=se&amp;hvadid=71056066549249&amp;hvbmt=be&amp;hvdev=c&amp;hvlocphy=147103&amp;hvnetw=o&amp;hvqmt=e&amp;hvtargid=kwd-71056498090091%3Aloc-20&amp;hydadcr=5657_11235229&amp;keywords=the+data+warehouse+toolkit&amp;mcid=7e5de83184d53cf3a46c90b9db5a8006&amp;qid=1764969993&amp;sr=8-5&amp;ufe=app_do%3Aamzn1.fos.6a09f7ec-d911-4889-ad70-de8dd83c8a74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mazon.com.br/Data-Warehouse-Toolkit-Definitive-Dimensional-ebook/dp/B00DRZX6XS/ref=sr_1_1?adgrpid=1136895682082976&amp;dib=eyJ2IjoiMSJ9.tt7BYpkMCm7lp4Z0Uc3jR-ay1ylobQ-4iJ_JisYpupYIVG41X39A_mbzQPcSCiJ2D89Vk4EpoFAH07focU0_wlE0A9wRO-7oH0hryI_UHZ-nLFnA7dInzMu1ZZUxUOMfhxJgEYdyfwMz1nNGC0W_CD1CgyYbEak3R-AiZMe5PjL7tWv8vM8urgPxZnZOZjgszkPbaVOgXINT6D4Rdn8VEUCk-_8FxAb4LLcbgMv-YFubThLHkcYXFGiY3wVG7X-m43rv-39kHmX9C8YKI4w5T9QHWYGR680kk3pxauMc58U.jZu2bLHvh46NyqmlDqO0y8A2irfEg5Tgt3Yi6nB5lEg&amp;dib_tag=se&amp;hvadid=71056066549249&amp;hvbmt=be&amp;hvdev=c&amp;hvlocphy=147103&amp;hvnetw=o&amp;hvqmt=e&amp;hvtargid=kwd-71056498090091%3Aloc-20&amp;hydadcr=5657_11235229&amp;keywords=the+data+warehouse+toolkit&amp;mcid=7e5de83184d53cf3a46c90b9db5a8006&amp;qid=1764969993&amp;sr=8-1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2" descr="Código QR&#10;&#10;Descrição gerada automaticamente">
            <a:extLst>
              <a:ext uri="{FF2B5EF4-FFF2-40B4-BE49-F238E27FC236}">
                <a16:creationId xmlns:a16="http://schemas.microsoft.com/office/drawing/2014/main" id="{0FA96F4B-AD74-3994-E819-15E997908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36" b="91590" l="1992" r="99161">
                        <a14:foregroundMark x1="3669" y1="17333" x2="28302" y2="19487"/>
                        <a14:foregroundMark x1="28302" y1="19487" x2="33229" y2="19487"/>
                        <a14:foregroundMark x1="1992" y1="18051" x2="8700" y2="78974"/>
                        <a14:foregroundMark x1="8700" y1="78974" x2="6394" y2="87795"/>
                        <a14:foregroundMark x1="6394" y1="87795" x2="5241" y2="74051"/>
                        <a14:foregroundMark x1="5241" y1="74051" x2="6184" y2="70359"/>
                        <a14:foregroundMark x1="31761" y1="45949" x2="36268" y2="50154"/>
                        <a14:foregroundMark x1="48532" y1="16718" x2="48532" y2="16718"/>
                        <a14:foregroundMark x1="41405" y1="15385" x2="47379" y2="7487"/>
                        <a14:foregroundMark x1="47379" y1="7487" x2="56080" y2="9436"/>
                        <a14:foregroundMark x1="56080" y1="9436" x2="58386" y2="15795"/>
                        <a14:foregroundMark x1="47799" y1="9538" x2="51677" y2="18974"/>
                        <a14:foregroundMark x1="50734" y1="24308" x2="83438" y2="17949"/>
                        <a14:foregroundMark x1="83438" y1="17949" x2="93816" y2="18872"/>
                        <a14:foregroundMark x1="93816" y1="18872" x2="92453" y2="53436"/>
                        <a14:foregroundMark x1="96855" y1="18974" x2="98323" y2="82359"/>
                        <a14:foregroundMark x1="98323" y1="82359" x2="90566" y2="89744"/>
                        <a14:foregroundMark x1="90566" y1="89744" x2="47484" y2="91590"/>
                        <a14:foregroundMark x1="98532" y1="18051" x2="99161" y2="89128"/>
                        <a14:foregroundMark x1="40566" y1="47385" x2="40566" y2="47385"/>
                        <a14:foregroundMark x1="56080" y1="13641" x2="55451" y2="19487"/>
                        <a14:foregroundMark x1="60063" y1="46769" x2="39308" y2="45641"/>
                        <a14:foregroundMark x1="39308" y1="45641" x2="57442" y2="46872"/>
                        <a14:foregroundMark x1="57442" y1="46872" x2="66143" y2="46051"/>
                        <a14:foregroundMark x1="66143" y1="46051" x2="49581" y2="50564"/>
                        <a14:foregroundMark x1="49581" y1="50564" x2="39308" y2="50462"/>
                        <a14:foregroundMark x1="39308" y1="50462" x2="30818" y2="56308"/>
                        <a14:foregroundMark x1="30818" y1="56308" x2="63312" y2="54667"/>
                        <a14:foregroundMark x1="63312" y1="54667" x2="58386" y2="63692"/>
                        <a14:foregroundMark x1="58386" y1="63692" x2="30608" y2="60308"/>
                        <a14:foregroundMark x1="30608" y1="60308" x2="43606" y2="58872"/>
                        <a14:foregroundMark x1="43606" y1="58872" x2="61216" y2="61128"/>
                        <a14:foregroundMark x1="28721" y1="44513" x2="31551" y2="79282"/>
                        <a14:foregroundMark x1="31551" y1="79282" x2="33753" y2="62974"/>
                        <a14:foregroundMark x1="33753" y1="62974" x2="38155" y2="52718"/>
                        <a14:foregroundMark x1="38155" y1="52718" x2="34172" y2="85128"/>
                        <a14:foregroundMark x1="34172" y1="85128" x2="33333" y2="51590"/>
                        <a14:foregroundMark x1="33333" y1="51590" x2="39727" y2="68718"/>
                        <a14:foregroundMark x1="39727" y1="68718" x2="42348" y2="50359"/>
                        <a14:foregroundMark x1="42348" y1="50359" x2="44549" y2="76103"/>
                        <a14:foregroundMark x1="44549" y1="76103" x2="48008" y2="52000"/>
                        <a14:foregroundMark x1="48008" y1="52000" x2="52201" y2="78359"/>
                        <a14:foregroundMark x1="52201" y1="78359" x2="52725" y2="61744"/>
                        <a14:foregroundMark x1="52725" y1="61744" x2="56184" y2="72205"/>
                        <a14:foregroundMark x1="56184" y1="72205" x2="60168" y2="60615"/>
                        <a14:foregroundMark x1="60168" y1="60615" x2="66981" y2="81846"/>
                        <a14:foregroundMark x1="66981" y1="81846" x2="63732" y2="59077"/>
                        <a14:foregroundMark x1="63732" y1="59077" x2="67505" y2="50462"/>
                        <a14:foregroundMark x1="67505" y1="50462" x2="67610" y2="75385"/>
                        <a14:foregroundMark x1="67610" y1="75385" x2="58910" y2="79692"/>
                        <a14:foregroundMark x1="58910" y1="79692" x2="58386" y2="68821"/>
                        <a14:foregroundMark x1="58386" y1="68821" x2="61530" y2="83077"/>
                        <a14:foregroundMark x1="61530" y1="83077" x2="68134" y2="73333"/>
                        <a14:foregroundMark x1="68134" y1="73333" x2="39099" y2="71282"/>
                        <a14:foregroundMark x1="39099" y1="71282" x2="57652" y2="64308"/>
                        <a14:foregroundMark x1="57652" y1="64308" x2="39832" y2="77949"/>
                        <a14:foregroundMark x1="39832" y1="77949" x2="54298" y2="83282"/>
                        <a14:foregroundMark x1="54298" y1="83282" x2="30818" y2="87487"/>
                        <a14:foregroundMark x1="30818" y1="87487" x2="58386" y2="84821"/>
                        <a14:foregroundMark x1="58386" y1="84821" x2="68134" y2="86051"/>
                        <a14:foregroundMark x1="68134" y1="86051" x2="63522" y2="78974"/>
                        <a14:foregroundMark x1="63522" y1="78974" x2="66247" y2="46462"/>
                        <a14:foregroundMark x1="66247" y1="46462" x2="59539" y2="66256"/>
                        <a14:foregroundMark x1="59539" y1="66256" x2="46855" y2="74359"/>
                        <a14:foregroundMark x1="46855" y1="74359" x2="37317" y2="69333"/>
                        <a14:foregroundMark x1="37317" y1="69333" x2="40985" y2="77231"/>
                        <a14:foregroundMark x1="40985" y1="77231" x2="34382" y2="67487"/>
                        <a14:foregroundMark x1="34382" y1="67487" x2="34906" y2="52923"/>
                        <a14:foregroundMark x1="34906" y1="52923" x2="32180" y2="44821"/>
                        <a14:foregroundMark x1="32180" y1="44821" x2="29979" y2="44821"/>
                        <a14:foregroundMark x1="31237" y1="81333" x2="33543" y2="82872"/>
                        <a14:foregroundMark x1="28302" y1="44308" x2="58700" y2="45538"/>
                        <a14:foregroundMark x1="58700" y1="45538" x2="69916" y2="44308"/>
                        <a14:foregroundMark x1="69916" y1="44308" x2="32809" y2="42872"/>
                        <a14:foregroundMark x1="32809" y1="42872" x2="69392" y2="47077"/>
                        <a14:foregroundMark x1="69392" y1="47077" x2="25681" y2="51179"/>
                        <a14:foregroundMark x1="25681" y1="51179" x2="70021" y2="54359"/>
                        <a14:foregroundMark x1="70021" y1="54359" x2="42558" y2="59897"/>
                        <a14:foregroundMark x1="42558" y1="59897" x2="32285" y2="65744"/>
                        <a14:foregroundMark x1="32285" y1="65744" x2="51048" y2="60923"/>
                        <a14:foregroundMark x1="51048" y1="60923" x2="56080" y2="54462"/>
                        <a14:foregroundMark x1="56080" y1="54462" x2="44759" y2="59590"/>
                        <a14:foregroundMark x1="44759" y1="59590" x2="58910" y2="66564"/>
                        <a14:foregroundMark x1="58910" y1="66564" x2="47589" y2="73538"/>
                        <a14:foregroundMark x1="47589" y1="73538" x2="55451" y2="77436"/>
                        <a14:foregroundMark x1="55451" y1="77436" x2="45597" y2="79282"/>
                        <a14:foregroundMark x1="45597" y1="79282" x2="58491" y2="81333"/>
                        <a14:foregroundMark x1="58491" y1="81333" x2="44340" y2="81744"/>
                        <a14:foregroundMark x1="44340" y1="81744" x2="56289" y2="84103"/>
                        <a14:foregroundMark x1="56289" y1="84103" x2="38994" y2="84615"/>
                        <a14:foregroundMark x1="38994" y1="84615" x2="47589" y2="85333"/>
                        <a14:foregroundMark x1="47589" y1="85333" x2="64990" y2="84718"/>
                        <a14:foregroundMark x1="64990" y1="84718" x2="73270" y2="87795"/>
                        <a14:foregroundMark x1="73270" y1="87795" x2="73480" y2="874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05" t="24736" r="772"/>
          <a:stretch>
            <a:fillRect/>
          </a:stretch>
        </p:blipFill>
        <p:spPr>
          <a:xfrm>
            <a:off x="4660489" y="1001910"/>
            <a:ext cx="6912079" cy="5418555"/>
          </a:xfrm>
          <a:prstGeom prst="rect">
            <a:avLst/>
          </a:prstGeom>
        </p:spPr>
      </p:pic>
      <p:pic>
        <p:nvPicPr>
          <p:cNvPr id="5" name="Imagem 6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899B8AE7-6A57-AD53-5907-0832B4CBB9C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606" y="3289"/>
            <a:ext cx="8704394" cy="6854711"/>
          </a:xfrm>
          <a:prstGeom prst="rect">
            <a:avLst/>
          </a:prstGeom>
        </p:spPr>
      </p:pic>
      <p:pic>
        <p:nvPicPr>
          <p:cNvPr id="7" name="Imagem 12" descr="Logotipo&#10;&#10;O conteúdo gerado por IA pode estar incorreto.">
            <a:extLst>
              <a:ext uri="{FF2B5EF4-FFF2-40B4-BE49-F238E27FC236}">
                <a16:creationId xmlns:a16="http://schemas.microsoft.com/office/drawing/2014/main" id="{213CBA79-6986-D573-2E66-9AAA468586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146" y="6121578"/>
            <a:ext cx="1197017" cy="492517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465DB928-AD86-DF46-6187-AB7D3C27A1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1" y="235761"/>
            <a:ext cx="2799108" cy="413007"/>
          </a:xfrm>
          <a:prstGeom prst="rect">
            <a:avLst/>
          </a:prstGeom>
        </p:spPr>
      </p:pic>
      <p:pic>
        <p:nvPicPr>
          <p:cNvPr id="11" name="Imagem 10" descr="Homem de camisa branca sorrindo&#10;&#10;O conteúdo gerado por IA pode estar incorreto.">
            <a:extLst>
              <a:ext uri="{FF2B5EF4-FFF2-40B4-BE49-F238E27FC236}">
                <a16:creationId xmlns:a16="http://schemas.microsoft.com/office/drawing/2014/main" id="{C7979B5F-D05B-2ABA-DD62-1EF212F7E9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5923" y="813556"/>
            <a:ext cx="6653968" cy="6044444"/>
          </a:xfrm>
          <a:prstGeom prst="rect">
            <a:avLst/>
          </a:prstGeom>
        </p:spPr>
      </p:pic>
      <p:pic>
        <p:nvPicPr>
          <p:cNvPr id="6" name="Imagem 10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7826B69A-9CA1-C8F7-5BEF-B5D945AFBC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291" y="6174206"/>
            <a:ext cx="1220727" cy="49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41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D89001A5-EA57-98F2-6F41-F14DD1A806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228" y="7716"/>
            <a:ext cx="8698772" cy="6850284"/>
          </a:xfrm>
          <a:prstGeom prst="rect">
            <a:avLst/>
          </a:prstGeom>
        </p:spPr>
      </p:pic>
      <p:pic>
        <p:nvPicPr>
          <p:cNvPr id="3" name="Imagem 12" descr="Logotipo&#10;&#10;O conteúdo gerado por IA pode estar incorreto.">
            <a:extLst>
              <a:ext uri="{FF2B5EF4-FFF2-40B4-BE49-F238E27FC236}">
                <a16:creationId xmlns:a16="http://schemas.microsoft.com/office/drawing/2014/main" id="{D5E71EE3-EB9C-2DCD-134C-C903CE5F8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146" y="6121578"/>
            <a:ext cx="1197017" cy="492517"/>
          </a:xfrm>
          <a:prstGeom prst="rect">
            <a:avLst/>
          </a:prstGeom>
        </p:spPr>
      </p:pic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2421CCE-7330-A26D-4BE3-A88AAF084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1" y="235761"/>
            <a:ext cx="2799108" cy="413007"/>
          </a:xfrm>
          <a:prstGeom prst="rect">
            <a:avLst/>
          </a:prstGeom>
        </p:spPr>
      </p:pic>
      <p:pic>
        <p:nvPicPr>
          <p:cNvPr id="5" name="Imagem 10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BFCE7D23-1021-25B3-165E-05907A916D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1" y="6121577"/>
            <a:ext cx="1220727" cy="49251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E94D75F-6433-7434-5C9D-D94741E89C93}"/>
              </a:ext>
            </a:extLst>
          </p:cNvPr>
          <p:cNvSpPr txBox="1"/>
          <p:nvPr/>
        </p:nvSpPr>
        <p:spPr>
          <a:xfrm>
            <a:off x="2619728" y="853041"/>
            <a:ext cx="6952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Personalidades citadas nesta apresentação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45F1B46-5E6B-4101-1F8B-1635BD21F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557" y="1580534"/>
            <a:ext cx="3024341" cy="429405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5C1CC70-F823-2E03-3602-A5C219833830}"/>
              </a:ext>
            </a:extLst>
          </p:cNvPr>
          <p:cNvSpPr txBox="1"/>
          <p:nvPr/>
        </p:nvSpPr>
        <p:spPr>
          <a:xfrm>
            <a:off x="4454014" y="1858297"/>
            <a:ext cx="6086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Edgar F. “Ted” </a:t>
            </a:r>
            <a:r>
              <a:rPr lang="pt-BR" b="1" dirty="0" err="1"/>
              <a:t>Codd</a:t>
            </a:r>
            <a:endParaRPr lang="pt-BR" b="1" dirty="0"/>
          </a:p>
          <a:p>
            <a:endParaRPr lang="pt-BR" dirty="0"/>
          </a:p>
          <a:p>
            <a:r>
              <a:rPr lang="pt-BR" dirty="0"/>
              <a:t>Matemático e Cientista da Computação inglês.</a:t>
            </a:r>
          </a:p>
          <a:p>
            <a:r>
              <a:rPr lang="pt-BR" dirty="0"/>
              <a:t>Considerado o pai dos bancos de dados relacionais, conceito criado e divulgado, entre outros meios, no artigo de 1970:</a:t>
            </a:r>
          </a:p>
          <a:p>
            <a:endParaRPr lang="pt-BR" dirty="0"/>
          </a:p>
          <a:p>
            <a:r>
              <a:rPr lang="pt-BR" dirty="0"/>
              <a:t>“</a:t>
            </a:r>
            <a:r>
              <a:rPr lang="en-US" dirty="0"/>
              <a:t> </a:t>
            </a:r>
            <a:r>
              <a:rPr lang="en-US" i="1" dirty="0">
                <a:hlinkClick r:id="rId7"/>
              </a:rPr>
              <a:t>A Relational Model of Data for Large Shared Data Banks</a:t>
            </a:r>
            <a:r>
              <a:rPr lang="en-US" i="1" dirty="0"/>
              <a:t>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8983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F767A-892E-527C-1AE3-85DD76D0D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25A61F73-BBFE-46A3-9477-76A0BDE15E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0" y="0"/>
            <a:ext cx="8708570" cy="6858000"/>
          </a:xfrm>
          <a:prstGeom prst="rect">
            <a:avLst/>
          </a:prstGeom>
        </p:spPr>
      </p:pic>
      <p:pic>
        <p:nvPicPr>
          <p:cNvPr id="3" name="Imagem 12" descr="Logotipo&#10;&#10;O conteúdo gerado por IA pode estar incorreto.">
            <a:extLst>
              <a:ext uri="{FF2B5EF4-FFF2-40B4-BE49-F238E27FC236}">
                <a16:creationId xmlns:a16="http://schemas.microsoft.com/office/drawing/2014/main" id="{3E42FAAA-9C78-D5EA-86EB-D7CE36E87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146" y="6121578"/>
            <a:ext cx="1197017" cy="492517"/>
          </a:xfrm>
          <a:prstGeom prst="rect">
            <a:avLst/>
          </a:prstGeom>
        </p:spPr>
      </p:pic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65823F62-524C-82D0-5C8C-94B05883C7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1" y="235761"/>
            <a:ext cx="2799108" cy="413007"/>
          </a:xfrm>
          <a:prstGeom prst="rect">
            <a:avLst/>
          </a:prstGeom>
        </p:spPr>
      </p:pic>
      <p:pic>
        <p:nvPicPr>
          <p:cNvPr id="5" name="Imagem 10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586D3AF4-DFE1-7D49-6590-6D4065DDEE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1" y="6121577"/>
            <a:ext cx="1220727" cy="49251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7161FDE-F263-2444-92CE-CA1712C14D0A}"/>
              </a:ext>
            </a:extLst>
          </p:cNvPr>
          <p:cNvSpPr txBox="1"/>
          <p:nvPr/>
        </p:nvSpPr>
        <p:spPr>
          <a:xfrm>
            <a:off x="2619728" y="853041"/>
            <a:ext cx="6952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Personalidades citadas nesta apresentação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E977107-E416-F980-085A-98F6F50FCA2D}"/>
              </a:ext>
            </a:extLst>
          </p:cNvPr>
          <p:cNvSpPr txBox="1"/>
          <p:nvPr/>
        </p:nvSpPr>
        <p:spPr>
          <a:xfrm>
            <a:off x="4454014" y="1858297"/>
            <a:ext cx="6086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William H. “Bill” </a:t>
            </a:r>
            <a:r>
              <a:rPr lang="pt-BR" b="1" dirty="0" err="1"/>
              <a:t>Inmon</a:t>
            </a:r>
            <a:endParaRPr lang="pt-BR" b="1" dirty="0"/>
          </a:p>
          <a:p>
            <a:endParaRPr lang="pt-BR" dirty="0"/>
          </a:p>
          <a:p>
            <a:r>
              <a:rPr lang="pt-BR" dirty="0"/>
              <a:t>Matemático e Cientista da Computação americano.</a:t>
            </a:r>
          </a:p>
          <a:p>
            <a:r>
              <a:rPr lang="pt-BR" dirty="0"/>
              <a:t>Considerado o pai do Data Warehouse, conceito criado e desenvolvido nos livros:</a:t>
            </a:r>
          </a:p>
          <a:p>
            <a:endParaRPr lang="pt-BR" dirty="0"/>
          </a:p>
          <a:p>
            <a:r>
              <a:rPr lang="pt-BR" dirty="0"/>
              <a:t>“</a:t>
            </a:r>
            <a:r>
              <a:rPr lang="pt-BR" i="1" dirty="0">
                <a:hlinkClick r:id="rId6"/>
              </a:rPr>
              <a:t>Effective Data Base Design</a:t>
            </a:r>
            <a:r>
              <a:rPr lang="en-US" i="1" dirty="0"/>
              <a:t>”  (1981)</a:t>
            </a:r>
          </a:p>
          <a:p>
            <a:r>
              <a:rPr lang="en-US" i="1" dirty="0"/>
              <a:t>“</a:t>
            </a:r>
            <a:r>
              <a:rPr lang="pt-BR" i="1" dirty="0">
                <a:hlinkClick r:id="rId7"/>
              </a:rPr>
              <a:t>Building </a:t>
            </a:r>
            <a:r>
              <a:rPr lang="pt-BR" i="1" dirty="0" err="1">
                <a:hlinkClick r:id="rId7"/>
              </a:rPr>
              <a:t>the</a:t>
            </a:r>
            <a:r>
              <a:rPr lang="pt-BR" i="1" dirty="0">
                <a:hlinkClick r:id="rId7"/>
              </a:rPr>
              <a:t> Data Warehouse</a:t>
            </a:r>
            <a:r>
              <a:rPr lang="pt-BR" i="1" dirty="0"/>
              <a:t>” (1990)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E8EF89E-E8E4-8D61-1B27-5FDF2AD0B1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125" y="1858297"/>
            <a:ext cx="2999206" cy="376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85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EC264-5D1B-561B-100B-4723B724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67C542C1-BD97-F4D2-64CB-67EF6BBC79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284" y="0"/>
            <a:ext cx="8691716" cy="6844727"/>
          </a:xfrm>
          <a:prstGeom prst="rect">
            <a:avLst/>
          </a:prstGeom>
        </p:spPr>
      </p:pic>
      <p:pic>
        <p:nvPicPr>
          <p:cNvPr id="3" name="Imagem 12" descr="Logotipo&#10;&#10;O conteúdo gerado por IA pode estar incorreto.">
            <a:extLst>
              <a:ext uri="{FF2B5EF4-FFF2-40B4-BE49-F238E27FC236}">
                <a16:creationId xmlns:a16="http://schemas.microsoft.com/office/drawing/2014/main" id="{75D61926-74BE-C1A5-7759-69082CC3A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146" y="6121578"/>
            <a:ext cx="1197017" cy="492517"/>
          </a:xfrm>
          <a:prstGeom prst="rect">
            <a:avLst/>
          </a:prstGeom>
        </p:spPr>
      </p:pic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2B3D290F-E65F-0225-5A95-3246D3383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1" y="235761"/>
            <a:ext cx="2799108" cy="413007"/>
          </a:xfrm>
          <a:prstGeom prst="rect">
            <a:avLst/>
          </a:prstGeom>
        </p:spPr>
      </p:pic>
      <p:pic>
        <p:nvPicPr>
          <p:cNvPr id="5" name="Imagem 10" descr="Desenho com traços pretos em fundo branco e letras pretas&#10;&#10;O conteúdo gerado por IA pode estar incorreto.">
            <a:extLst>
              <a:ext uri="{FF2B5EF4-FFF2-40B4-BE49-F238E27FC236}">
                <a16:creationId xmlns:a16="http://schemas.microsoft.com/office/drawing/2014/main" id="{FF40BD67-C398-0816-4ED0-71C84E550D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31" y="6121577"/>
            <a:ext cx="1220727" cy="49251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E92DE3B-75B1-9376-CE49-0727498A37C1}"/>
              </a:ext>
            </a:extLst>
          </p:cNvPr>
          <p:cNvSpPr txBox="1"/>
          <p:nvPr/>
        </p:nvSpPr>
        <p:spPr>
          <a:xfrm>
            <a:off x="2619728" y="853041"/>
            <a:ext cx="6952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Personalidades citadas nesta apresentação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6E11919-06DB-A8C5-3CC6-826F126CAA18}"/>
              </a:ext>
            </a:extLst>
          </p:cNvPr>
          <p:cNvSpPr txBox="1"/>
          <p:nvPr/>
        </p:nvSpPr>
        <p:spPr>
          <a:xfrm>
            <a:off x="4454014" y="1858297"/>
            <a:ext cx="60861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Ralph </a:t>
            </a:r>
            <a:r>
              <a:rPr lang="pt-BR" b="1" dirty="0" err="1"/>
              <a:t>Kimball</a:t>
            </a:r>
            <a:endParaRPr lang="pt-BR" b="1" dirty="0"/>
          </a:p>
          <a:p>
            <a:endParaRPr lang="pt-BR" dirty="0"/>
          </a:p>
          <a:p>
            <a:r>
              <a:rPr lang="pt-BR" dirty="0"/>
              <a:t>Engenheiro americano.</a:t>
            </a:r>
          </a:p>
          <a:p>
            <a:r>
              <a:rPr lang="pt-BR" dirty="0"/>
              <a:t>Expoente mais famoso do conceito de Data Warehouse, criador dos conceitos de Modelagem Dimensional, Fatos e Dimensões, oferecendo uma abordagem alternativa à formulada por Bill </a:t>
            </a:r>
            <a:r>
              <a:rPr lang="pt-BR" dirty="0" err="1"/>
              <a:t>Inmon</a:t>
            </a:r>
            <a:r>
              <a:rPr lang="pt-BR" dirty="0"/>
              <a:t>. Principais publicações:</a:t>
            </a:r>
          </a:p>
          <a:p>
            <a:endParaRPr lang="pt-BR" dirty="0"/>
          </a:p>
          <a:p>
            <a:r>
              <a:rPr lang="pt-BR" dirty="0"/>
              <a:t>“</a:t>
            </a:r>
            <a:r>
              <a:rPr lang="pt-BR" i="1" dirty="0">
                <a:hlinkClick r:id="rId6"/>
              </a:rPr>
              <a:t>Data Warehouse Toolkit</a:t>
            </a:r>
            <a:r>
              <a:rPr lang="en-US" i="1" dirty="0"/>
              <a:t>” (1996)</a:t>
            </a:r>
          </a:p>
          <a:p>
            <a:r>
              <a:rPr lang="en-US" i="1" dirty="0"/>
              <a:t>“</a:t>
            </a:r>
            <a:r>
              <a:rPr lang="pt-BR" i="1" dirty="0">
                <a:hlinkClick r:id="rId7"/>
              </a:rPr>
              <a:t>Data Warehouse </a:t>
            </a:r>
            <a:r>
              <a:rPr lang="pt-BR" i="1" dirty="0" err="1">
                <a:hlinkClick r:id="rId7"/>
              </a:rPr>
              <a:t>Lifecycle</a:t>
            </a:r>
            <a:r>
              <a:rPr lang="pt-BR" i="1" dirty="0">
                <a:hlinkClick r:id="rId7"/>
              </a:rPr>
              <a:t> Toolkit</a:t>
            </a:r>
            <a:r>
              <a:rPr lang="pt-BR" i="1" dirty="0"/>
              <a:t>” (1998)</a:t>
            </a:r>
            <a:endParaRPr lang="pt-BR" dirty="0"/>
          </a:p>
        </p:txBody>
      </p:sp>
      <p:pic>
        <p:nvPicPr>
          <p:cNvPr id="3074" name="Picture 2" descr="Kimball Methode: Was ist das? Wie wird sie angewendet?">
            <a:extLst>
              <a:ext uri="{FF2B5EF4-FFF2-40B4-BE49-F238E27FC236}">
                <a16:creationId xmlns:a16="http://schemas.microsoft.com/office/drawing/2014/main" id="{8415AFB1-1A35-D009-3494-0BEE4ACBB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985" y="1858297"/>
            <a:ext cx="2689737" cy="37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59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ódigo QR&#10;&#10;O conteúdo gerado por IA pode estar incorreto.">
            <a:extLst>
              <a:ext uri="{FF2B5EF4-FFF2-40B4-BE49-F238E27FC236}">
                <a16:creationId xmlns:a16="http://schemas.microsoft.com/office/drawing/2014/main" id="{C2034C40-9DD1-60B7-09F7-837758BD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068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162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Venturini</dc:creator>
  <cp:lastModifiedBy>Hugo Venturini</cp:lastModifiedBy>
  <cp:revision>2</cp:revision>
  <dcterms:created xsi:type="dcterms:W3CDTF">2025-08-14T23:32:41Z</dcterms:created>
  <dcterms:modified xsi:type="dcterms:W3CDTF">2025-12-05T21:42:53Z</dcterms:modified>
</cp:coreProperties>
</file>